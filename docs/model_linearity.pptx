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9" r:id="rId4"/>
    <p:sldId id="271" r:id="rId5"/>
    <p:sldId id="281" r:id="rId6"/>
    <p:sldId id="283" r:id="rId7"/>
    <p:sldId id="267" r:id="rId8"/>
    <p:sldId id="265" r:id="rId9"/>
    <p:sldId id="263" r:id="rId10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CuaoS/ao6GLJNkk1J/HieLCYV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1"/>
    <p:restoredTop sz="94694"/>
  </p:normalViewPr>
  <p:slideViewPr>
    <p:cSldViewPr snapToGrid="0">
      <p:cViewPr>
        <p:scale>
          <a:sx n="110" d="100"/>
          <a:sy n="110" d="100"/>
        </p:scale>
        <p:origin x="2400" y="4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Diverse students. Some with bio-backgrounds; some without. Some with CS background; some with very limited. Two separate courses combined because of a substantial shared curriculum.</a:t>
            </a: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5"/>
          <p:cNvSpPr/>
          <p:nvPr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5"/>
          <p:cNvSpPr/>
          <p:nvPr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35" descr="UW.Wordmark_ct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/>
          <p:nvPr/>
        </p:nvSpPr>
        <p:spPr>
          <a:xfrm rot="10800000" flipH="1">
            <a:off x="8167688" y="6348413"/>
            <a:ext cx="585787" cy="396875"/>
          </a:xfrm>
          <a:prstGeom prst="trapezoid">
            <a:avLst>
              <a:gd name="adj" fmla="val 25000"/>
            </a:avLst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35" descr="UW_W-Logo_RG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9275" y="6348413"/>
            <a:ext cx="5937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5"/>
          <p:cNvSpPr txBox="1"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ubTitle" idx="1"/>
          </p:nvPr>
        </p:nvSpPr>
        <p:spPr>
          <a:xfrm>
            <a:off x="1371600" y="35083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dt" idx="10"/>
          </p:nvPr>
        </p:nvSpPr>
        <p:spPr>
          <a:xfrm>
            <a:off x="447675" y="5943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ftr" idx="11"/>
          </p:nvPr>
        </p:nvSpPr>
        <p:spPr>
          <a:xfrm>
            <a:off x="3114675" y="59436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sldNum" idx="12"/>
          </p:nvPr>
        </p:nvSpPr>
        <p:spPr>
          <a:xfrm>
            <a:off x="7534275" y="5943600"/>
            <a:ext cx="466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6"/>
          <p:cNvSpPr/>
          <p:nvPr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36" descr="UW.Wordmark_ct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6"/>
          <p:cNvGrpSpPr/>
          <p:nvPr/>
        </p:nvGrpSpPr>
        <p:grpSpPr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34" name="Google Shape;34;p36"/>
            <p:cNvSpPr/>
            <p:nvPr/>
          </p:nvSpPr>
          <p:spPr>
            <a:xfrm rot="10800000" flipH="1">
              <a:off x="8045450" y="6222997"/>
              <a:ext cx="733146" cy="494505"/>
            </a:xfrm>
            <a:prstGeom prst="trapezoid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" name="Google Shape;35;p36" descr="UW_W-Logo_RGB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6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7543801" y="6248400"/>
            <a:ext cx="533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sldNum" idx="12"/>
          </p:nvPr>
        </p:nvSpPr>
        <p:spPr>
          <a:xfrm>
            <a:off x="7655266" y="6264275"/>
            <a:ext cx="4981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6172200" y="6264275"/>
            <a:ext cx="1905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3008313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42"/>
          <p:cNvSpPr txBox="1">
            <a:spLocks noGrp="1"/>
          </p:cNvSpPr>
          <p:nvPr>
            <p:ph type="body" idx="1"/>
          </p:nvPr>
        </p:nvSpPr>
        <p:spPr>
          <a:xfrm>
            <a:off x="3575050" y="533401"/>
            <a:ext cx="511175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2"/>
          </p:nvPr>
        </p:nvSpPr>
        <p:spPr>
          <a:xfrm>
            <a:off x="457200" y="1676400"/>
            <a:ext cx="3008313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1792288" y="46482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4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39592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43"/>
          <p:cNvSpPr txBox="1">
            <a:spLocks noGrp="1"/>
          </p:cNvSpPr>
          <p:nvPr>
            <p:ph type="body" idx="1"/>
          </p:nvPr>
        </p:nvSpPr>
        <p:spPr>
          <a:xfrm>
            <a:off x="1792288" y="5214938"/>
            <a:ext cx="54864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body" idx="1"/>
          </p:nvPr>
        </p:nvSpPr>
        <p:spPr>
          <a:xfrm rot="5400000">
            <a:off x="2286000" y="-457200"/>
            <a:ext cx="45720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>
            <a:spLocks noGrp="1"/>
          </p:cNvSpPr>
          <p:nvPr>
            <p:ph type="title"/>
          </p:nvPr>
        </p:nvSpPr>
        <p:spPr>
          <a:xfrm rot="5400000">
            <a:off x="4953000" y="2209801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body" idx="1"/>
          </p:nvPr>
        </p:nvSpPr>
        <p:spPr>
          <a:xfrm rot="5400000">
            <a:off x="762000" y="228601"/>
            <a:ext cx="541020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45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5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" name="Google Shape;11;p34"/>
          <p:cNvGrpSpPr/>
          <p:nvPr/>
        </p:nvGrpSpPr>
        <p:grpSpPr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12" name="Google Shape;12;p34"/>
            <p:cNvSpPr/>
            <p:nvPr/>
          </p:nvSpPr>
          <p:spPr>
            <a:xfrm rot="10800000" flipH="1">
              <a:off x="8045450" y="6222997"/>
              <a:ext cx="733146" cy="494505"/>
            </a:xfrm>
            <a:prstGeom prst="trapezoid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" name="Google Shape;13;p34" descr="UW_W-Logo_RGB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34"/>
          <p:cNvSpPr/>
          <p:nvPr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>
            <a:solidFill>
              <a:srgbClr val="3B1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34" descr="UW.Wordmark_ctr.jp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4"/>
          <p:cNvSpPr txBox="1">
            <a:spLocks noGrp="1"/>
          </p:cNvSpPr>
          <p:nvPr>
            <p:ph type="sldNum" idx="12"/>
          </p:nvPr>
        </p:nvSpPr>
        <p:spPr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381000" y="517216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How Linear is </a:t>
            </a:r>
            <a:r>
              <a:rPr lang="en-US" sz="3200" b="1" dirty="0" err="1"/>
              <a:t>BioModels</a:t>
            </a:r>
            <a:r>
              <a:rPr lang="en-US" sz="3200" b="1" dirty="0"/>
              <a:t>?</a:t>
            </a:r>
            <a:br>
              <a:rPr lang="en-US" b="1" dirty="0"/>
            </a:br>
            <a:endParaRPr i="1"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381000" y="3611071"/>
            <a:ext cx="8382000" cy="2239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sz="2800" dirty="0"/>
              <a:t>Joe Hellerstein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sz="2800"/>
              <a:t>March 12, 2026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Understand how well models can be approximated by linear systems of differential equations.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Identify ”linearity bottlenecks”, reactions that most affect deviations from linearity.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Why?</a:t>
            </a:r>
          </a:p>
          <a:p>
            <a:pPr marL="800100" lvl="1" indent="-342900">
              <a:spcBef>
                <a:spcPts val="0"/>
              </a:spcBef>
              <a:buSzPts val="3200"/>
              <a:buChar char="•"/>
            </a:pPr>
            <a:r>
              <a:rPr lang="en-US" dirty="0"/>
              <a:t>Linearity is a key assumption for most quantitative analysis</a:t>
            </a:r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7620000" y="6248400"/>
            <a:ext cx="30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05BC-3EFE-F7FA-5685-8E525830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9B6F-AF64-8B1D-CB5F-00F5A5ED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Jacobian of a Subsystem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E53BC-3A30-02C1-5E87-B3ACB626BE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49D8C5-DCF6-BE1C-44D0-CE39BD77C258}"/>
                  </a:ext>
                </a:extLst>
              </p:cNvPr>
              <p:cNvSpPr txBox="1"/>
              <p:nvPr/>
            </p:nvSpPr>
            <p:spPr>
              <a:xfrm>
                <a:off x="767256" y="1072057"/>
                <a:ext cx="81034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The dynamics,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̇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dirty="0"/>
                  <a:t> of a subsystem are described by its Jacobian,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18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49D8C5-DCF6-BE1C-44D0-CE39BD77C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56" y="1072057"/>
                <a:ext cx="8103476" cy="369332"/>
              </a:xfrm>
              <a:prstGeom prst="rect">
                <a:avLst/>
              </a:prstGeom>
              <a:blipFill>
                <a:blip r:embed="rId2"/>
                <a:stretch>
                  <a:fillRect l="-46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0B6997D-20FD-7DB8-D26E-A0EE1781399B}"/>
              </a:ext>
            </a:extLst>
          </p:cNvPr>
          <p:cNvGrpSpPr/>
          <p:nvPr/>
        </p:nvGrpSpPr>
        <p:grpSpPr>
          <a:xfrm>
            <a:off x="1145628" y="1983827"/>
            <a:ext cx="6133224" cy="2840419"/>
            <a:chOff x="1145628" y="1910257"/>
            <a:chExt cx="6133224" cy="28404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5EDEB5-9475-5AB1-23C7-FF33BB84E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0652" y="1910257"/>
              <a:ext cx="5918200" cy="2247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7A0107-64B7-0D9E-4128-E31FCFA775D3}"/>
                </a:ext>
              </a:extLst>
            </p:cNvPr>
            <p:cNvSpPr/>
            <p:nvPr/>
          </p:nvSpPr>
          <p:spPr>
            <a:xfrm>
              <a:off x="1145628" y="3794234"/>
              <a:ext cx="893379" cy="956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9798FE-BF3D-5FB9-B12C-6629CADC6BFC}"/>
                </a:ext>
              </a:extLst>
            </p:cNvPr>
            <p:cNvSpPr/>
            <p:nvPr/>
          </p:nvSpPr>
          <p:spPr>
            <a:xfrm>
              <a:off x="3179380" y="3976196"/>
              <a:ext cx="893379" cy="438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73500C-FBDF-81CF-1102-D2013E856338}"/>
                </a:ext>
              </a:extLst>
            </p:cNvPr>
            <p:cNvSpPr/>
            <p:nvPr/>
          </p:nvSpPr>
          <p:spPr>
            <a:xfrm>
              <a:off x="3765550" y="2732691"/>
              <a:ext cx="893379" cy="1462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A65039-B674-9E2D-865E-47EAF0D8CEB8}"/>
                </a:ext>
              </a:extLst>
            </p:cNvPr>
            <p:cNvSpPr/>
            <p:nvPr/>
          </p:nvSpPr>
          <p:spPr>
            <a:xfrm>
              <a:off x="1992916" y="3164445"/>
              <a:ext cx="893379" cy="1462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DA51CD6-9DCC-335B-E3DD-4335270B6A10}"/>
                </a:ext>
              </a:extLst>
            </p:cNvPr>
            <p:cNvSpPr/>
            <p:nvPr/>
          </p:nvSpPr>
          <p:spPr>
            <a:xfrm>
              <a:off x="1592317" y="2594076"/>
              <a:ext cx="893379" cy="14625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349E0D-8AC1-F13A-08B2-7E1331798302}"/>
                </a:ext>
              </a:extLst>
            </p:cNvPr>
            <p:cNvSpPr/>
            <p:nvPr/>
          </p:nvSpPr>
          <p:spPr>
            <a:xfrm>
              <a:off x="3988894" y="2263822"/>
              <a:ext cx="893379" cy="122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657E190-749F-8684-7993-F1FB0FC917D1}"/>
                </a:ext>
              </a:extLst>
            </p:cNvPr>
            <p:cNvSpPr/>
            <p:nvPr/>
          </p:nvSpPr>
          <p:spPr>
            <a:xfrm>
              <a:off x="1985854" y="2337888"/>
              <a:ext cx="893379" cy="357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1AB4A4-EE4F-FE27-23D1-ED3F82A6DB2A}"/>
                </a:ext>
              </a:extLst>
            </p:cNvPr>
            <p:cNvSpPr/>
            <p:nvPr/>
          </p:nvSpPr>
          <p:spPr>
            <a:xfrm>
              <a:off x="1992917" y="1921572"/>
              <a:ext cx="130174" cy="357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F9EE9FE-A7BC-5F5A-155B-0E650B37E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151" y="4209823"/>
            <a:ext cx="8540641" cy="134389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88695F-ED43-A627-DBD6-3C7DC4613220}"/>
              </a:ext>
            </a:extLst>
          </p:cNvPr>
          <p:cNvSpPr txBox="1"/>
          <p:nvPr/>
        </p:nvSpPr>
        <p:spPr>
          <a:xfrm>
            <a:off x="1321677" y="5645844"/>
            <a:ext cx="6994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Jacobian of the combined subsystem is the sum of the Jacobians of the individual subsystems if the individual subsystems have no reaction in common.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3BFBAD8-86C3-4DB9-6D16-456F4090D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88" y="1514473"/>
            <a:ext cx="1397000" cy="40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97AFC8-5890-A82D-BA83-1A0ABDEAE362}"/>
                  </a:ext>
                </a:extLst>
              </p:cNvPr>
              <p:cNvSpPr txBox="1"/>
              <p:nvPr/>
            </p:nvSpPr>
            <p:spPr>
              <a:xfrm>
                <a:off x="2071286" y="1502281"/>
                <a:ext cx="549541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600" dirty="0"/>
                  <a:t> is the vector of forced inputs (on for each state variable).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97AFC8-5890-A82D-BA83-1A0ABDEAE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286" y="1502281"/>
                <a:ext cx="5495415" cy="338554"/>
              </a:xfrm>
              <a:prstGeom prst="rect">
                <a:avLst/>
              </a:prstGeom>
              <a:blipFill>
                <a:blip r:embed="rId6"/>
                <a:stretch>
                  <a:fillRect t="-3704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56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D695E-F7E9-83A5-4E87-BF8A70E32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A3106-1F44-6D06-D6D7-2BBC61C5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Response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0B30B-E4A2-540C-D62E-D06A2970B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60636"/>
            <a:ext cx="8229600" cy="1723696"/>
          </a:xfrm>
        </p:spPr>
        <p:txBody>
          <a:bodyPr/>
          <a:lstStyle/>
          <a:p>
            <a:r>
              <a:rPr lang="en-US" sz="2800" dirty="0" err="1"/>
              <a:t>Defn</a:t>
            </a:r>
            <a:r>
              <a:rPr lang="en-US" sz="2800" dirty="0"/>
              <a:t> of step response: Change in steady state values change when there is a unit change in one or more values of forced inputs (</a:t>
            </a:r>
            <a:r>
              <a:rPr lang="en-US" sz="2800" b="1" i="1" dirty="0"/>
              <a:t>b</a:t>
            </a:r>
            <a:r>
              <a:rPr lang="en-US" sz="2800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7731B-DE4D-8988-787A-CC1BD911BA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94074B-0605-2846-0196-5C86EA14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538" y="924912"/>
            <a:ext cx="2881313" cy="8382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5FAF47F-76E1-56EB-12B4-D00E902DE159}"/>
              </a:ext>
            </a:extLst>
          </p:cNvPr>
          <p:cNvSpPr txBox="1">
            <a:spLocks/>
          </p:cNvSpPr>
          <p:nvPr/>
        </p:nvSpPr>
        <p:spPr>
          <a:xfrm>
            <a:off x="369477" y="3095301"/>
            <a:ext cx="8229600" cy="3063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2800" dirty="0"/>
              <a:t>Objective: Given two subsystems (including their Jacobians), what is the step response of the combined system with the same forced inputs? Assume</a:t>
            </a:r>
          </a:p>
          <a:p>
            <a:pPr lvl="1"/>
            <a:r>
              <a:rPr lang="en-US" sz="2400" dirty="0"/>
              <a:t>Subsystems are stable</a:t>
            </a:r>
          </a:p>
          <a:p>
            <a:pPr lvl="1"/>
            <a:r>
              <a:rPr lang="en-US" sz="2400" dirty="0"/>
              <a:t>No reactions in common</a:t>
            </a:r>
          </a:p>
        </p:txBody>
      </p:sp>
    </p:spTree>
    <p:extLst>
      <p:ext uri="{BB962C8B-B14F-4D97-AF65-F5344CB8AC3E}">
        <p14:creationId xmlns:p14="http://schemas.microsoft.com/office/powerpoint/2010/main" val="335699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516D5-ACFC-A779-C938-EE3B8D91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CC3326-44C4-937B-6017-076A1C8C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Good are Linear Approximations in </a:t>
            </a:r>
            <a:r>
              <a:rPr lang="en-US" dirty="0" err="1"/>
              <a:t>BioModels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89420-347E-1B5B-B7AD-0DFA1C238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DB4D73-1308-8331-F338-48C8D5B66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82" y="2924349"/>
            <a:ext cx="3689350" cy="27622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B702EA-C85E-F5C0-DCF7-E810D1AD5DED}"/>
              </a:ext>
            </a:extLst>
          </p:cNvPr>
          <p:cNvSpPr txBox="1"/>
          <p:nvPr/>
        </p:nvSpPr>
        <p:spPr>
          <a:xfrm>
            <a:off x="530983" y="1786289"/>
            <a:ext cx="80027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model is a good approximation if the Jacobian does not change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Calculated the maximum coefficient of variant of entries in Jacobians  over 100 time points for ~800 models in </a:t>
            </a:r>
            <a:r>
              <a:rPr lang="en-US" sz="1600" dirty="0" err="1"/>
              <a:t>BioModels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63E268-C387-CA49-E840-4677EC96CAEC}"/>
              </a:ext>
            </a:extLst>
          </p:cNvPr>
          <p:cNvSpPr txBox="1"/>
          <p:nvPr/>
        </p:nvSpPr>
        <p:spPr>
          <a:xfrm>
            <a:off x="1340987" y="5848290"/>
            <a:ext cx="6462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Linear approximation likely works well for ~100 models.</a:t>
            </a:r>
          </a:p>
        </p:txBody>
      </p:sp>
    </p:spTree>
    <p:extLst>
      <p:ext uri="{BB962C8B-B14F-4D97-AF65-F5344CB8AC3E}">
        <p14:creationId xmlns:p14="http://schemas.microsoft.com/office/powerpoint/2010/main" val="146868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50F0-59B4-D835-4CC7-69C6FA1C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4114800" cy="838200"/>
          </a:xfrm>
        </p:spPr>
        <p:txBody>
          <a:bodyPr/>
          <a:lstStyle/>
          <a:p>
            <a:r>
              <a:rPr lang="en-US" sz="2800" dirty="0"/>
              <a:t>Example: </a:t>
            </a:r>
            <a:r>
              <a:rPr lang="en-US" sz="2800" dirty="0" err="1"/>
              <a:t>BioModels</a:t>
            </a:r>
            <a:r>
              <a:rPr lang="en-US" sz="2800" dirty="0"/>
              <a:t> 57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42376-02AE-FF3D-53AF-4CD48B488A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F7CDBB-ADC2-ABB8-EA8B-2E0A2D693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50" y="3000353"/>
            <a:ext cx="4423899" cy="3248047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CC64CC4-EB48-D463-33FC-81871A607167}"/>
              </a:ext>
            </a:extLst>
          </p:cNvPr>
          <p:cNvSpPr txBox="1">
            <a:spLocks/>
          </p:cNvSpPr>
          <p:nvPr/>
        </p:nvSpPr>
        <p:spPr>
          <a:xfrm>
            <a:off x="493507" y="1584890"/>
            <a:ext cx="8466084" cy="17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Font typeface="Arial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Jch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Jch_Fch_0*p1*p2*p3;</a:t>
            </a:r>
          </a:p>
          <a:p>
            <a:pPr marL="25400" indent="0">
              <a:buFont typeface="Arial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Jleak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Jleak_Fleak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5400" indent="0">
              <a:buFont typeface="Arial"/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Jpump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Jpump_Fpump_0*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Jpump_Kpump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Ca_Cyt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25400" indent="0">
              <a:buFont typeface="Arial"/>
              <a:buNone/>
            </a:pP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72A2FE-B011-3971-AE50-29E720442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05" y="303942"/>
            <a:ext cx="4150272" cy="12809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8E1D670-58A0-DA96-8B70-C9D6C0A67A2E}"/>
              </a:ext>
            </a:extLst>
          </p:cNvPr>
          <p:cNvGrpSpPr/>
          <p:nvPr/>
        </p:nvGrpSpPr>
        <p:grpSpPr>
          <a:xfrm>
            <a:off x="5381081" y="3073623"/>
            <a:ext cx="3305720" cy="2829301"/>
            <a:chOff x="5227990" y="2653864"/>
            <a:chExt cx="3305720" cy="28293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E63304-2E76-0F03-C2C1-F0CD5617A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27990" y="3023943"/>
              <a:ext cx="3305720" cy="245922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E9046D-4FA6-3047-7191-2AEDFAC9E479}"/>
                </a:ext>
              </a:extLst>
            </p:cNvPr>
            <p:cNvSpPr txBox="1"/>
            <p:nvPr/>
          </p:nvSpPr>
          <p:spPr>
            <a:xfrm>
              <a:off x="5654565" y="2653864"/>
              <a:ext cx="26404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Wolf Model Counter 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18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A782BC-27E8-88C1-533A-7EF29B0B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</a:t>
            </a:r>
            <a:r>
              <a:rPr lang="en-US" dirty="0" err="1"/>
              <a:t>BioModels</a:t>
            </a:r>
            <a:r>
              <a:rPr lang="en-US" dirty="0"/>
              <a:t> With Multiple Jacobians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C0004-B95E-243D-95FF-BD9AEBCD68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A345A6-0CAB-D7EC-C6BE-69D146E75FE6}"/>
              </a:ext>
            </a:extLst>
          </p:cNvPr>
          <p:cNvGrpSpPr/>
          <p:nvPr/>
        </p:nvGrpSpPr>
        <p:grpSpPr>
          <a:xfrm>
            <a:off x="651641" y="2905547"/>
            <a:ext cx="3689350" cy="3027987"/>
            <a:chOff x="651641" y="2295948"/>
            <a:chExt cx="3689350" cy="302798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629FE89-EDD9-95EA-00A4-279F6FD92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641" y="2561685"/>
              <a:ext cx="3689350" cy="27622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C1E432-2F13-2FDF-DFD5-715116688CC6}"/>
                </a:ext>
              </a:extLst>
            </p:cNvPr>
            <p:cNvSpPr txBox="1"/>
            <p:nvPr/>
          </p:nvSpPr>
          <p:spPr>
            <a:xfrm>
              <a:off x="1271752" y="2295948"/>
              <a:ext cx="273268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1 Jacobian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40477F-882E-EC50-74F3-36FD8EBF21AC}"/>
              </a:ext>
            </a:extLst>
          </p:cNvPr>
          <p:cNvGrpSpPr/>
          <p:nvPr/>
        </p:nvGrpSpPr>
        <p:grpSpPr>
          <a:xfrm>
            <a:off x="4949367" y="2903195"/>
            <a:ext cx="3663650" cy="3038011"/>
            <a:chOff x="4949367" y="2293596"/>
            <a:chExt cx="3663650" cy="30380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0F0EDB-252E-4059-8EDD-B6ACFC649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367" y="2561685"/>
              <a:ext cx="3663650" cy="276992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9FA595-0772-9C3A-2C89-186938E8650A}"/>
                </a:ext>
              </a:extLst>
            </p:cNvPr>
            <p:cNvSpPr txBox="1"/>
            <p:nvPr/>
          </p:nvSpPr>
          <p:spPr>
            <a:xfrm>
              <a:off x="5533696" y="2293596"/>
              <a:ext cx="273268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3 Jacobians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0502F4-CBBD-2E4E-6B71-CFFCDB6FBE55}"/>
              </a:ext>
            </a:extLst>
          </p:cNvPr>
          <p:cNvSpPr txBox="1"/>
          <p:nvPr/>
        </p:nvSpPr>
        <p:spPr>
          <a:xfrm>
            <a:off x="530983" y="1786289"/>
            <a:ext cx="80027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model is a good approximation if the Jacobian does not change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Calculated the maximum coefficient of variant of entries in Jacobians  over 100 time points for ~800 models in </a:t>
            </a:r>
            <a:r>
              <a:rPr lang="en-US" sz="1600" dirty="0" err="1"/>
              <a:t>BioModels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40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803D-326F-1799-D63D-2AC666B6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3725917" cy="838200"/>
          </a:xfrm>
        </p:spPr>
        <p:txBody>
          <a:bodyPr/>
          <a:lstStyle/>
          <a:p>
            <a:r>
              <a:rPr lang="en-US" dirty="0" err="1"/>
              <a:t>BioModels</a:t>
            </a:r>
            <a:r>
              <a:rPr lang="en-US" dirty="0"/>
              <a:t> 38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453AC-9048-3997-44F9-EAFCFB7176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F82DBA-F459-AD67-F7C0-12A23C03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17" y="3365981"/>
            <a:ext cx="3636121" cy="2352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99C71E-3ED1-F593-531C-3B0F410EA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14" y="1380972"/>
            <a:ext cx="5770179" cy="17942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98820C-A325-6701-74C9-BA2474E376D3}"/>
              </a:ext>
            </a:extLst>
          </p:cNvPr>
          <p:cNvSpPr txBox="1"/>
          <p:nvPr/>
        </p:nvSpPr>
        <p:spPr>
          <a:xfrm>
            <a:off x="5045664" y="3846786"/>
            <a:ext cx="3258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Lots of nonlinear rate laws: 2 reactants, MM kinetics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Seems like two Jacobians provide a good approximation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0D6703-4CEF-C7AF-F982-6110C7B17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12" y="381000"/>
            <a:ext cx="3543388" cy="114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3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6084-B907-929E-0669-D8C63FFB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Polylinear Model (</a:t>
            </a:r>
            <a:r>
              <a:rPr lang="en-US" dirty="0" err="1"/>
              <a:t>BioM</a:t>
            </a:r>
            <a:r>
              <a:rPr lang="en-US" dirty="0"/>
              <a:t> 309)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B9E79-0E40-8875-3FB0-726784E65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3252952"/>
          </a:xfrm>
        </p:spPr>
        <p:txBody>
          <a:bodyPr/>
          <a:lstStyle/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model *Tyson2003_NegFB_Homeostasis()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Ep := Et - E;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 := Et*(2*k3*J4/((k4*R - k3) 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+ J3*(k4*R) + J4*k3 + (((k4*R - k3) 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+ J3*(k4*R) + J4*k3)^2 –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4*(k4*R - k3)*k3*J4)^(1/2)));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Km3 := J3*Et;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Km4 := J4*Et;</a:t>
            </a:r>
          </a:p>
          <a:p>
            <a:pPr marL="2540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r0: =&gt; R; env*k0*E;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r2: R =&gt; ; env*k2*R*S;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r3: $Ep =&gt; $E; env*k3*Ep/(Km3 + Ep);</a:t>
            </a:r>
          </a:p>
          <a:p>
            <a:pPr marL="2540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r4: $E =&gt; $Ep; env*k4*R*E/(Km4 + E);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16850-48CF-DCB0-35D6-CDE86768C0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D9EF8-6218-A641-6AFA-A5296DAC6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559" y="1219200"/>
            <a:ext cx="2077642" cy="2081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B30A14-112A-F280-8C4E-4146CAC4B9E6}"/>
              </a:ext>
            </a:extLst>
          </p:cNvPr>
          <p:cNvSpPr txBox="1"/>
          <p:nvPr/>
        </p:nvSpPr>
        <p:spPr>
          <a:xfrm>
            <a:off x="7830204" y="3058513"/>
            <a:ext cx="28405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240D74-138D-C53A-8F55-F4C37179E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559" y="3660228"/>
            <a:ext cx="2229793" cy="2233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634ECE-AEE1-53E1-C8A6-C4BA5B3EEE3B}"/>
              </a:ext>
            </a:extLst>
          </p:cNvPr>
          <p:cNvSpPr txBox="1"/>
          <p:nvPr/>
        </p:nvSpPr>
        <p:spPr>
          <a:xfrm>
            <a:off x="7919544" y="5649307"/>
            <a:ext cx="38343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82184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62881</TotalTime>
  <Words>563</Words>
  <Application>Microsoft Macintosh PowerPoint</Application>
  <PresentationFormat>On-screen Show (4:3)</PresentationFormat>
  <Paragraphs>60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Courier New</vt:lpstr>
      <vt:lpstr>Arial</vt:lpstr>
      <vt:lpstr>Cambria Math</vt:lpstr>
      <vt:lpstr>Calibri</vt:lpstr>
      <vt:lpstr>Office Theme</vt:lpstr>
      <vt:lpstr>How Linear is BioModels? </vt:lpstr>
      <vt:lpstr>Objectives</vt:lpstr>
      <vt:lpstr>Jacobian of a Subsystem</vt:lpstr>
      <vt:lpstr>Step Response</vt:lpstr>
      <vt:lpstr>How Good are Linear Approximations in BioModels?</vt:lpstr>
      <vt:lpstr>Example: BioModels 57 </vt:lpstr>
      <vt:lpstr>Approximating BioModels With Multiple Jacobians</vt:lpstr>
      <vt:lpstr>BioModels 38</vt:lpstr>
      <vt:lpstr>Example of Polylinear Model (BioM 309)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BIOE 437 / BIOE 537  Computational Systems Biology   Lecture 1: Introduction and Biochemistry Basics  </dc:title>
  <dc:creator>Tricia Caparas</dc:creator>
  <cp:lastModifiedBy>Joseph Hellerstein</cp:lastModifiedBy>
  <cp:revision>302</cp:revision>
  <dcterms:created xsi:type="dcterms:W3CDTF">2008-11-04T22:35:39Z</dcterms:created>
  <dcterms:modified xsi:type="dcterms:W3CDTF">2026-03-12T23:52:40Z</dcterms:modified>
</cp:coreProperties>
</file>